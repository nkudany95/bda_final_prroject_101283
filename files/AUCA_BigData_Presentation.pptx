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34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6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2487168"/>
            <a:ext cx="804672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MULTI-MODEL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E-Commerce Data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 ·  HBase  ·  Apache Spark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6028" y="3079107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 NKURUNZIZA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8640" y="3897338"/>
            <a:ext cx="8046720" cy="532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Big Data Analytics  |  MSDA9113  |  June 2026</a:t>
            </a: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5E0B84C-A223-4CD7-8DB9-CE9075E77A6F}"/>
              </a:ext>
            </a:extLst>
          </p:cNvPr>
          <p:cNvSpPr/>
          <p:nvPr/>
        </p:nvSpPr>
        <p:spPr>
          <a:xfrm>
            <a:off x="530778" y="3505724"/>
            <a:ext cx="80393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101283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3268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914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Selection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4128" y="1444752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4825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 — MongoDB &amp; HBase Schema Design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24128" y="2560320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— Batch Processing &amp; SQL Analytics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4128" y="3675888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93268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13248" y="914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Analytics — Customer Lifetime Value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13248" y="1444752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04825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20299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 &amp; Business Insights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13248" y="2560320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638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314553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Considerations &amp; Conclusions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13248" y="3675888"/>
            <a:ext cx="3566160" cy="0"/>
          </a:xfrm>
          <a:prstGeom prst="line">
            <a:avLst/>
          </a:prstGeom>
          <a:noFill/>
          <a:ln w="9525">
            <a:solidFill>
              <a:srgbClr val="D5D8D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Three-store distributed pipeline — each technology doing what it does best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Data Gravity Principle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2743200" cy="391363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0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225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 + price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profiles + geo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+ embedded items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pipelines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804672"/>
            <a:ext cx="2743200" cy="391363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04672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261872"/>
            <a:ext cx="2743200" cy="292608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8229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1225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Wide-Column Store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01568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session clickstream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Reverse-timestamp row keys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daily metrics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event writes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804672"/>
            <a:ext cx="2743200" cy="3913632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804672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8E4A0F"/>
          </a:solidFill>
          <a:ln w="12700">
            <a:solidFill>
              <a:srgbClr val="8E4A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261872"/>
            <a:ext cx="2743200" cy="292608"/>
          </a:xfrm>
          <a:prstGeom prst="rect">
            <a:avLst/>
          </a:prstGeom>
          <a:solidFill>
            <a:srgbClr val="8E4A0F"/>
          </a:solidFill>
          <a:ln w="12700">
            <a:solidFill>
              <a:srgbClr val="8E4A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82296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08776" y="1225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5936" y="1664208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Cross-store joins on user_id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ML algorithms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SQL window functions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&amp; CLV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9232" y="2377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23774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schema design · HBase row-key strategy · Technology trade-offs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Schema Design Decisions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8412480" cy="2761488"/>
        </p:xfrm>
        <a:graphic>
          <a:graphicData uri="http://schemas.openxmlformats.org/drawingml/2006/table">
            <a:tbl>
              <a:tblPr/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Design Decision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 price_history array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accessed with parent product — avoids JOIN on every catalog 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Denormalise category_name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Read-heavy display field; category renames are rare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 items array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+ line items always retrieved together — single document 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Index: user_id, timestamp, 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Covers all primary query axes: user history, date range, fulfilment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 geo_data sub-document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Country/state filters use compound index — zero-lookup geographic segmentation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embedded transaction history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volume is unbounded — would breach 16 MB document limit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245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structure follows access pattern, not normalisation rules.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 — Row Key Strategy &amp; Column Families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77240"/>
            <a:ext cx="4023360" cy="41148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user_sessions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Key:  user_id # reverse_timestamp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3712464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reverse_ts = Long.MAX_VALUE − epoch_ms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scan → most recent sessions first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full table scan + sort for user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start/end time, device, referrer, 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geo: city, state, country, IP address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product_ids, total_value (sparse)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VERSIONS=1, SNAPPY compression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777240"/>
            <a:ext cx="4023360" cy="41148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89611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product_performance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298448"/>
            <a:ext cx="3712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Key:  product_id # YYYYMMDD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19472" y="1627632"/>
            <a:ext cx="3712464" cy="18288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73736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Date-bucketed: 1 row per product per day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range scan = single contiguous read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O(date range) not O(table size)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views: count, unique_users, avg_dur_sec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cart: add_count, total_value_added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units_sold, revenue, order_count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Write-optimised — no updates, only appends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 Processing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· Co-purchase recommendations · Cohort analysis · Spark SQL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Pipeline — Four Processing Stages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04672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969264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69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9264" y="969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4264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→ TimestampType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discount → 0.0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records flagged (total ≤ 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Derived: year_month, tenure_days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82312" y="804672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46904" y="969264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969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04104" y="96926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Co-Purchase Recommendations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5192" y="142646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Self-join on transaction_id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Jaccard similarity normalisation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support threshold = 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500K+ transactions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2980944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9264" y="29809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43814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= registration month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spend in subsequent months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per cohort × month cell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early retention signals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2816352"/>
            <a:ext cx="41605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46904" y="2980944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29809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04104" y="29809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SQL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65192" y="3438144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rolling revenue average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 by referrer channel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× OS revenue breakdown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LTV segmentation (CTE)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SQL — Key Query Results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77240"/>
            <a:ext cx="8449056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3675888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20624" y="373075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$5.66M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20624" y="4206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(90-day window)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3675888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64992" y="373075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364992" y="4206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36208" y="3675888"/>
            <a:ext cx="274320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3730752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309360" y="42062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(email)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Analytics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Lifetime Value: combining MongoDB transactions + HBase sessions via Spark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Integration — Cross-Store Join Architecture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4747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676656"/>
          </a:xfrm>
          <a:prstGeom prst="roundRect">
            <a:avLst>
              <a:gd name="adj" fmla="val 9459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25296"/>
            <a:ext cx="27432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50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spend, order count,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value, discount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822960"/>
            <a:ext cx="2743200" cy="34747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22960"/>
            <a:ext cx="2743200" cy="676656"/>
          </a:xfrm>
          <a:prstGeom prst="roundRect">
            <a:avLst>
              <a:gd name="adj" fmla="val 9459"/>
            </a:avLst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25296"/>
            <a:ext cx="2743200" cy="2743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50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225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62763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 user_id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join — preserves 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records; nulls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non-session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743200" cy="347472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22960"/>
            <a:ext cx="2743200" cy="676656"/>
          </a:xfrm>
          <a:prstGeom prst="roundRect">
            <a:avLst>
              <a:gd name="adj" fmla="val 9459"/>
            </a:avLst>
          </a:prstGeom>
          <a:solidFill>
            <a:srgbClr val="8E4A0F"/>
          </a:solidFill>
          <a:ln w="12700">
            <a:solidFill>
              <a:srgbClr val="8E4A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225296"/>
            <a:ext cx="2743200" cy="274320"/>
          </a:xfrm>
          <a:prstGeom prst="rect">
            <a:avLst/>
          </a:prstGeom>
          <a:solidFill>
            <a:srgbClr val="8E4A0F"/>
          </a:solidFill>
          <a:ln w="12700">
            <a:solidFill>
              <a:srgbClr val="8E4A0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850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2252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1627632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features: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sessions, avg duration,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rate, device,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referrer channel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35808" y="2578608"/>
            <a:ext cx="201168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07608" y="2578608"/>
            <a:ext cx="201168" cy="0"/>
          </a:xfrm>
          <a:prstGeom prst="line">
            <a:avLst/>
          </a:prstGeom>
          <a:noFill/>
          <a:ln w="19050">
            <a:solidFill>
              <a:srgbClr val="5D6D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988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Unified user profile: CLV tier (High / Mid / Low)  +  engagement behaviour per segment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Results — Segment Behavioural Profiles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77240"/>
            <a:ext cx="502920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8412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77840" y="1261872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High-CLV users convert 23% of sessions vs 17.7% for Low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is a leading indicator — visible early in user lifecycle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High-CLV users place 2× more orders than Low-CLV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channel: highest avg CLV ($5,739) despite fewer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volume barely differs across tiers (48–51 sessions)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520440"/>
          <a:ext cx="5029200" cy="1170432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CLV 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LTV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Orders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 Conv.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 &amp; Insights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business analytics charts from the integrated dataset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Conversion by Acquisition Channel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77240"/>
            <a:ext cx="59436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868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2240" y="1261872"/>
            <a:ext cx="2423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drives highest intent-based conversion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= high volume, low conversion → needs re-targeting strategy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traffic shows consistent mid-range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channel delivers strong conversion despite lower volume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Revenue: Gross vs Net with Discount Impact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77240"/>
            <a:ext cx="8449056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3931920"/>
            <a:ext cx="844905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mid-revenue categories carry higher discount rates than top categories — warrants margin review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Discounts in high-volume categories may be necessary for competitiveness; in niche categories they are often unnecessary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Device Type × Operating System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777240"/>
            <a:ext cx="5029200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868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Insights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0" y="1261872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Mobile-iOS and Desktop-Windows are the dominant revenue combinations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Tablet-iOS performs above expectation — UX investment opportunity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mobile lags iOS disproportionately vs market share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a checkout UX gap on Android worth investigating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86A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2194560" y="1188720"/>
            <a:ext cx="0" cy="274320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4630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Scalability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560320" y="251460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justifications · Production path · Limitations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Selection — Why Three Systems?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04672"/>
          <a:ext cx="8449056" cy="1874520"/>
        </p:xfrm>
        <a:graphic>
          <a:graphicData uri="http://schemas.openxmlformats.org/drawingml/2006/table">
            <a:tbl>
              <a:tblPr/>
              <a:tblGrid>
                <a:gridCol w="211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model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+ aggregation pipelines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Key-range scans + server filters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Distributed SQL + DataFrames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Catalog, transactions, orders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Clickstream, time-series events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Cross-store joins, ML, analytics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mechanism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sharding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 region-splitting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Executors on YARN/Kubernetes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Multi-doc ACID (v4.0+)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Single-row atomic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 — read/transform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pattern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read/write, rich updates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Append-only, high throughput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computation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47472" y="391363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principle: use each technology for the workload it was designed for, not the workload it can tolerate.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Production Path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41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16152"/>
            <a:ext cx="2743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53312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shard on timestamp → older data to cheap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catalog: range shard on category_id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set &lt;1TB: single high-memory node; beyond that: 3-shard cluster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841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216152"/>
            <a:ext cx="2743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353312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sessions × 50KB ≈ 100GB — comfortable on 3-node cluster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SNAPPY compression reduces on-disk size ~60%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Reverse-key design enables automatic region splits as data grows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1344" y="841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216152"/>
            <a:ext cx="2743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1353312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Local[*] → YARN/Kubernetes — single config change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DataFrame fits in broadcast variable → eliminates shuffle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Streaming extension for real-time session events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8449056" cy="658368"/>
          </a:xfrm>
          <a:prstGeom prst="roundRect">
            <a:avLst>
              <a:gd name="adj" fmla="val 8333"/>
            </a:avLst>
          </a:prstGeom>
          <a:solidFill>
            <a:srgbClr val="EBF5FB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0624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 HBase runs in simulation mode (production: Docker harisekhon/hbase or Google Bigtable). Real-time streaming (Spark Structured Streaming → Kafka) and ALS collaborative filtering are natural next steps.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14300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handles document-oriented catalog and transactional data with expressive aggregation pipelines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HBase is optimised for the append-only, time-series session clickstream with reverse-timestamp row keys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joins both stores to answer business questions neither system can answer alone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conversion rate is a leading indicator of lifetime value — enabling early CRM intervention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channel delivers the highest CLV per user despite not being the highest-volume source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4370832"/>
            <a:ext cx="7315200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 NKURUNZIZA  ·  MSc Big Data Analytics  ·  AUCA  ·  June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1266</Words>
  <Application>Microsoft Office PowerPoint</Application>
  <PresentationFormat>On-screen Show (16:9)</PresentationFormat>
  <Paragraphs>260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Multi-Model Analytics for E-Commerce Data</dc:title>
  <dc:subject>Big Data Analytics Final Project</dc:subject>
  <dc:creator>UMWALI MWIZA Rita Lys Cleria</dc:creator>
  <cp:lastModifiedBy>Dany  Nkurunziza</cp:lastModifiedBy>
  <cp:revision>3</cp:revision>
  <dcterms:created xsi:type="dcterms:W3CDTF">2026-06-25T00:56:10Z</dcterms:created>
  <dcterms:modified xsi:type="dcterms:W3CDTF">2026-06-25T01:05:14Z</dcterms:modified>
</cp:coreProperties>
</file>